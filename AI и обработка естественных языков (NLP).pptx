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2" r:id="rId19"/>
    <p:sldId id="274" r:id="rId20"/>
    <p:sldId id="273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CE5"/>
    <a:srgbClr val="F1BBEB"/>
    <a:srgbClr val="FD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1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D55-5B2F-479B-AFC7-36395250EBE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8650-5791-47C6-B35B-079FF45A8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19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D55-5B2F-479B-AFC7-36395250EBE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8650-5791-47C6-B35B-079FF45A8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586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D55-5B2F-479B-AFC7-36395250EBE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8650-5791-47C6-B35B-079FF45A8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203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D55-5B2F-479B-AFC7-36395250EBE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8650-5791-47C6-B35B-079FF45A8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384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D55-5B2F-479B-AFC7-36395250EBE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8650-5791-47C6-B35B-079FF45A8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35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D55-5B2F-479B-AFC7-36395250EBE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8650-5791-47C6-B35B-079FF45A8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169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D55-5B2F-479B-AFC7-36395250EBE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8650-5791-47C6-B35B-079FF45A8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68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D55-5B2F-479B-AFC7-36395250EBE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8650-5791-47C6-B35B-079FF45A8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77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D55-5B2F-479B-AFC7-36395250EBE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8650-5791-47C6-B35B-079FF45A8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93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D55-5B2F-479B-AFC7-36395250EBE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8650-5791-47C6-B35B-079FF45A8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92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D55-5B2F-479B-AFC7-36395250EBE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F8650-5791-47C6-B35B-079FF45A8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86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E9D55-5B2F-479B-AFC7-36395250EBE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F8650-5791-47C6-B35B-079FF45A8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50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36958" y="1516709"/>
            <a:ext cx="7464288" cy="3022255"/>
          </a:xfrm>
        </p:spPr>
        <p:txBody>
          <a:bodyPr>
            <a:normAutofit/>
          </a:bodyPr>
          <a:lstStyle/>
          <a:p>
            <a:r>
              <a:rPr lang="ru-RU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>
                  <a:glow rad="101600">
                    <a:schemeClr val="tx2">
                      <a:lumMod val="20000"/>
                      <a:lumOff val="80000"/>
                      <a:alpha val="6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 и обработка естественных языков (NLP)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AC25DA0-FB7B-F5ED-1652-54BE4C90F804}"/>
              </a:ext>
            </a:extLst>
          </p:cNvPr>
          <p:cNvSpPr txBox="1">
            <a:spLocks/>
          </p:cNvSpPr>
          <p:nvPr/>
        </p:nvSpPr>
        <p:spPr>
          <a:xfrm>
            <a:off x="463433" y="378750"/>
            <a:ext cx="11211339" cy="65324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Московский государственный технический университет им. Н.Э. Баумана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671ED838-C5F8-5BF8-527C-4FB20A960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9426" y="4691269"/>
            <a:ext cx="502257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Выполнила</a:t>
            </a:r>
          </a:p>
          <a:p>
            <a:pPr algn="r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Студентка 2 курса магистратуры</a:t>
            </a:r>
          </a:p>
          <a:p>
            <a:pPr algn="r">
              <a:lnSpc>
                <a:spcPct val="100000"/>
              </a:lnSpc>
              <a:spcAft>
                <a:spcPts val="800"/>
              </a:spcAft>
              <a:buNone/>
            </a:pPr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ИУ3-31М</a:t>
            </a:r>
          </a:p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Коротыш Дана</a:t>
            </a:r>
          </a:p>
          <a:p>
            <a:pPr algn="r">
              <a:lnSpc>
                <a:spcPct val="100000"/>
              </a:lnSpc>
              <a:spcAft>
                <a:spcPts val="800"/>
              </a:spcAft>
              <a:buNone/>
            </a:pPr>
            <a:endParaRPr lang="ru-RU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993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9783" y="1835909"/>
            <a:ext cx="6596269" cy="1732032"/>
          </a:xfrm>
        </p:spPr>
        <p:txBody>
          <a:bodyPr>
            <a:noAutofit/>
          </a:bodyPr>
          <a:lstStyle/>
          <a:p>
            <a:pPr algn="just"/>
            <a:r>
              <a:rPr lang="ru-RU" sz="2400" dirty="0">
                <a:solidFill>
                  <a:schemeClr val="bg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Обработка естественных языков (NLP) — это направление искусственного интеллекта, изучающее взаимодействие человека и компьютера на естественном языке.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51381" y="3826565"/>
            <a:ext cx="5353879" cy="2693506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NLP объединяет лингвистику, статистику и машинное обучение.</a:t>
            </a:r>
            <a:br>
              <a:rPr lang="ru-RU" sz="24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Применяется для перевода, распознавания речи, анализа текста.</a:t>
            </a:r>
          </a:p>
          <a:p>
            <a:endParaRPr lang="ru-RU" sz="240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1028" name="Picture 4" descr="Обработка естественного языка (НЛП): как это работает, преимущества и  примеры из реальной жизн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793" y="958919"/>
            <a:ext cx="4196943" cy="5218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Круглая лента лицом вверх 3"/>
          <p:cNvSpPr/>
          <p:nvPr/>
        </p:nvSpPr>
        <p:spPr>
          <a:xfrm>
            <a:off x="89453" y="346467"/>
            <a:ext cx="7265504" cy="810994"/>
          </a:xfrm>
          <a:prstGeom prst="ellipseRibbon2">
            <a:avLst/>
          </a:prstGeom>
          <a:ln>
            <a:solidFill>
              <a:schemeClr val="accent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r"/>
            <a:r>
              <a:rPr lang="ru-RU" sz="3200" b="1" i="0" dirty="0">
                <a:solidFill>
                  <a:schemeClr val="bg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en-US" sz="3200" b="1" i="0" dirty="0">
                <a:solidFill>
                  <a:schemeClr val="bg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NLP?</a:t>
            </a:r>
            <a:r>
              <a:rPr lang="en-US" sz="32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857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653143"/>
            <a:ext cx="10084905" cy="1037545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тема остаётся актуальной?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9835" y="1883622"/>
            <a:ext cx="9571382" cy="2976563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📈 NLP — одно из самых быстрорастущих направлений AI.</a:t>
            </a:r>
            <a:b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💬 Применяется в чат-ботах, переводчиках, медицине, мультимедиа.</a:t>
            </a:r>
            <a:b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📜 Актуальность — в эволюции от простых алгоритмов к моделям, понимающим смысл текста.</a:t>
            </a:r>
          </a:p>
        </p:txBody>
      </p:sp>
    </p:spTree>
    <p:extLst>
      <p:ext uri="{BB962C8B-B14F-4D97-AF65-F5344CB8AC3E}">
        <p14:creationId xmlns:p14="http://schemas.microsoft.com/office/powerpoint/2010/main" val="530983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53441" y="645498"/>
            <a:ext cx="10357898" cy="5277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40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Показать эволюцию NLP — от первых статистических моделей до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трансформеров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Рассмотреть этапы развития;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Объяснить принципы моделей;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Показать применение в разных областях.</a:t>
            </a:r>
          </a:p>
        </p:txBody>
      </p:sp>
    </p:spTree>
    <p:extLst>
      <p:ext uri="{BB962C8B-B14F-4D97-AF65-F5344CB8AC3E}">
        <p14:creationId xmlns:p14="http://schemas.microsoft.com/office/powerpoint/2010/main" val="222255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6466" y="190814"/>
            <a:ext cx="10205514" cy="56947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Эволюция NLP: </a:t>
            </a:r>
            <a:r>
              <a:rPr lang="en-US" sz="3550" b="1" dirty="0" err="1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от</a:t>
            </a:r>
            <a:r>
              <a:rPr lang="en-US" sz="3550" b="1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550" b="1" dirty="0" err="1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символов</a:t>
            </a:r>
            <a:r>
              <a:rPr lang="en-US" sz="3550" b="1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к нейронным сетям</a:t>
            </a:r>
            <a:endParaRPr lang="en-US" sz="3550" dirty="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5"/>
          <p:cNvSpPr/>
          <p:nvPr/>
        </p:nvSpPr>
        <p:spPr>
          <a:xfrm>
            <a:off x="2604373" y="1613892"/>
            <a:ext cx="36855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1950-1980: Символьный подход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6"/>
          <p:cNvSpPr/>
          <p:nvPr/>
        </p:nvSpPr>
        <p:spPr>
          <a:xfrm>
            <a:off x="717590" y="2021681"/>
            <a:ext cx="5572363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Правила и логические системы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0"/>
          <p:cNvSpPr/>
          <p:nvPr/>
        </p:nvSpPr>
        <p:spPr>
          <a:xfrm>
            <a:off x="6619637" y="3460270"/>
            <a:ext cx="4176832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1980-2000: Статистические методы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1"/>
          <p:cNvSpPr/>
          <p:nvPr/>
        </p:nvSpPr>
        <p:spPr>
          <a:xfrm>
            <a:off x="6669157" y="3768665"/>
            <a:ext cx="5522843" cy="30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Машинное обучение и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корпуса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текстов</a:t>
            </a:r>
            <a:endParaRPr lang="ru-RU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ea typeface="Barlow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550"/>
              </a:lnSpc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Появляются модели для анализа звуковых </a:t>
            </a:r>
          </a:p>
          <a:p>
            <a:pPr>
              <a:lnSpc>
                <a:spcPts val="2550"/>
              </a:lnSpc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особенностей речи</a:t>
            </a:r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5"/>
          <p:cNvSpPr/>
          <p:nvPr/>
        </p:nvSpPr>
        <p:spPr>
          <a:xfrm>
            <a:off x="2225278" y="3904417"/>
            <a:ext cx="4064675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2000-2010: Вероятностные модели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6"/>
          <p:cNvSpPr/>
          <p:nvPr/>
        </p:nvSpPr>
        <p:spPr>
          <a:xfrm>
            <a:off x="697712" y="4312206"/>
            <a:ext cx="560369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Байесовские сети и скрытые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марковские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модели</a:t>
            </a:r>
            <a:endParaRPr lang="ru-RU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ea typeface="Barlow" pitchFamily="34" charset="-122"/>
              <a:cs typeface="Times New Roman" panose="02020603050405020304" pitchFamily="18" charset="0"/>
            </a:endParaRPr>
          </a:p>
          <a:p>
            <a:pPr algn="r">
              <a:lnSpc>
                <a:spcPts val="2550"/>
              </a:lnSpc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Распознавание речи становится частью больших моделей NLP</a:t>
            </a:r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409223" y="1452703"/>
            <a:ext cx="130725" cy="51882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20"/>
          <p:cNvSpPr/>
          <p:nvPr/>
        </p:nvSpPr>
        <p:spPr>
          <a:xfrm>
            <a:off x="8340447" y="4964906"/>
            <a:ext cx="351972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1"/>
          <p:cNvSpPr/>
          <p:nvPr/>
        </p:nvSpPr>
        <p:spPr>
          <a:xfrm>
            <a:off x="6659218" y="5451109"/>
            <a:ext cx="5572363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Рекуррентные и сверточные сети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6569102" y="5084983"/>
            <a:ext cx="4277902" cy="376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200"/>
              </a:lnSpc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2010-2020: </a:t>
            </a:r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Глубокое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обучение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25"/>
          <p:cNvSpPr/>
          <p:nvPr/>
        </p:nvSpPr>
        <p:spPr>
          <a:xfrm>
            <a:off x="3793611" y="5601535"/>
            <a:ext cx="2577822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2020+: Трансформеры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26"/>
          <p:cNvSpPr/>
          <p:nvPr/>
        </p:nvSpPr>
        <p:spPr>
          <a:xfrm>
            <a:off x="566530" y="6009324"/>
            <a:ext cx="5804903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GPT, BERT и масштабные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языковые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модели</a:t>
            </a:r>
            <a:endParaRPr lang="ru-RU" sz="20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ea typeface="Barlow" pitchFamily="34" charset="-122"/>
              <a:cs typeface="Times New Roman" panose="02020603050405020304" pitchFamily="18" charset="0"/>
            </a:endParaRPr>
          </a:p>
          <a:p>
            <a:pPr algn="r">
              <a:lnSpc>
                <a:spcPts val="2550"/>
              </a:lnSpc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научились генерировать речь…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473511" y="1572494"/>
            <a:ext cx="575807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1960–1970-е годы: Первые эксперименты с распознаванием речи</a:t>
            </a:r>
            <a:endParaRPr lang="ru-RU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Bell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Labs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умели распознавать 10 цифр с голосового ввода. Попытки создать голосовое управление вычислителями.</a:t>
            </a:r>
          </a:p>
        </p:txBody>
      </p:sp>
    </p:spTree>
    <p:extLst>
      <p:ext uri="{BB962C8B-B14F-4D97-AF65-F5344CB8AC3E}">
        <p14:creationId xmlns:p14="http://schemas.microsoft.com/office/powerpoint/2010/main" val="83840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1215133" y="70323"/>
            <a:ext cx="10149552" cy="1062539"/>
          </a:xfrm>
          <a:prstGeom prst="horizontalScroll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Символьные и ранние статистические методы</a:t>
            </a:r>
            <a:endParaRPr lang="en-US" sz="32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1412765" y="214331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6" name="Text 6"/>
          <p:cNvSpPr/>
          <p:nvPr/>
        </p:nvSpPr>
        <p:spPr>
          <a:xfrm>
            <a:off x="2322164" y="19812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1954 год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87753" y="2471691"/>
            <a:ext cx="6282752" cy="1220929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Первые системы машинного перевода IBM–Georgetown продемонстрировали возможность автоматического перевода с русского на английский.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1412765" y="386630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9" name="Text 11"/>
          <p:cNvSpPr/>
          <p:nvPr/>
        </p:nvSpPr>
        <p:spPr>
          <a:xfrm>
            <a:off x="2322164" y="37042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Словарный подход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387753" y="4194684"/>
            <a:ext cx="6282751" cy="763405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Основа работы — словари и жёсткие грамматические правила без понимания смысла текста.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1412765" y="525622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22" name="Text 16"/>
          <p:cNvSpPr/>
          <p:nvPr/>
        </p:nvSpPr>
        <p:spPr>
          <a:xfrm>
            <a:off x="2322164" y="5094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N-граммы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387753" y="5584595"/>
            <a:ext cx="6282751" cy="86096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Появление статистических моделей для предсказания следующего слова на основе вероятностей.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766" y="1654629"/>
            <a:ext cx="3745126" cy="413988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01406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1697691" y="85464"/>
            <a:ext cx="9054061" cy="1356680"/>
          </a:xfrm>
          <a:prstGeom prst="horizontalScroll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Частотный анализ и классические ML-модели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2"/>
          <p:cNvSpPr/>
          <p:nvPr/>
        </p:nvSpPr>
        <p:spPr>
          <a:xfrm>
            <a:off x="2785007" y="1684595"/>
            <a:ext cx="3327559" cy="1924129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4"/>
          <p:cNvSpPr/>
          <p:nvPr/>
        </p:nvSpPr>
        <p:spPr>
          <a:xfrm>
            <a:off x="3017535" y="1927045"/>
            <a:ext cx="3207187" cy="1439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Представление текста как набора слов без учёта их порядка — простой, но эффективный подход.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6422729" y="1722386"/>
            <a:ext cx="3545205" cy="1924129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Text 7"/>
          <p:cNvSpPr/>
          <p:nvPr/>
        </p:nvSpPr>
        <p:spPr>
          <a:xfrm>
            <a:off x="6591678" y="1904906"/>
            <a:ext cx="3207306" cy="1439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Алгоритм выделения важных терминов на основе частоты слов в документе и коллекции.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2785007" y="4131197"/>
            <a:ext cx="7182927" cy="167104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Text 9"/>
          <p:cNvSpPr/>
          <p:nvPr/>
        </p:nvSpPr>
        <p:spPr>
          <a:xfrm>
            <a:off x="3017536" y="4363727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Классификаторы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3017536" y="4850097"/>
            <a:ext cx="7104459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Naive Bayes и SVM для классификации электронных писем, отзывов и документов по категориям.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1582123" y="6026643"/>
            <a:ext cx="10609877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27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Основной принцип эпохи — анализ частоты слов, а не их смыслового значения в контексте.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01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0604" y="195901"/>
            <a:ext cx="66691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 </a:t>
            </a:r>
            <a:r>
              <a:rPr lang="ru-RU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нейросетей</a:t>
            </a: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7912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01</a:t>
            </a:r>
            <a:endParaRPr lang="en-US" sz="1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2146323"/>
            <a:ext cx="3664744" cy="30480"/>
          </a:xfrm>
          <a:prstGeom prst="rect">
            <a:avLst/>
          </a:prstGeom>
          <a:solidFill>
            <a:srgbClr val="4950BC"/>
          </a:solidFill>
          <a:ln>
            <a:solidFill>
              <a:schemeClr val="bg1">
                <a:lumMod val="95000"/>
              </a:schemeClr>
            </a:solidFill>
          </a:ln>
        </p:spPr>
      </p:sp>
      <p:sp>
        <p:nvSpPr>
          <p:cNvPr id="6" name="Text 4"/>
          <p:cNvSpPr/>
          <p:nvPr/>
        </p:nvSpPr>
        <p:spPr>
          <a:xfrm>
            <a:off x="793790" y="2320631"/>
            <a:ext cx="366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Переход к нейронным моделям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3165379"/>
            <a:ext cx="36647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Отказ от чисто статистических методов в пользу обучаемых нейронных сетей.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85348" y="17912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02</a:t>
            </a:r>
            <a:endParaRPr lang="en-US" sz="1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85348" y="2146323"/>
            <a:ext cx="3664863" cy="30480"/>
          </a:xfrm>
          <a:prstGeom prst="rect">
            <a:avLst/>
          </a:prstGeom>
          <a:solidFill>
            <a:srgbClr val="4950BC"/>
          </a:solidFill>
          <a:ln>
            <a:solidFill>
              <a:schemeClr val="bg1">
                <a:lumMod val="95000"/>
              </a:schemeClr>
            </a:solidFill>
          </a:ln>
        </p:spPr>
      </p:sp>
      <p:sp>
        <p:nvSpPr>
          <p:cNvPr id="10" name="Text 8"/>
          <p:cNvSpPr/>
          <p:nvPr/>
        </p:nvSpPr>
        <p:spPr>
          <a:xfrm>
            <a:off x="4685348" y="2320631"/>
            <a:ext cx="366486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Рекуррентные сети (RNN)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85348" y="3165379"/>
            <a:ext cx="36648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Первые архитектуры, способные «запоминать» контекст предыдущих слов в последовательности.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501382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03</a:t>
            </a:r>
            <a:endParaRPr lang="en-US" sz="1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3790" y="5368869"/>
            <a:ext cx="7556421" cy="30480"/>
          </a:xfrm>
          <a:prstGeom prst="rect">
            <a:avLst/>
          </a:prstGeom>
          <a:solidFill>
            <a:srgbClr val="4950BC"/>
          </a:solidFill>
          <a:ln>
            <a:solidFill>
              <a:schemeClr val="bg1">
                <a:lumMod val="95000"/>
              </a:schemeClr>
            </a:solidFill>
          </a:ln>
        </p:spPr>
      </p:sp>
      <p:sp>
        <p:nvSpPr>
          <p:cNvPr id="14" name="Text 12"/>
          <p:cNvSpPr/>
          <p:nvPr/>
        </p:nvSpPr>
        <p:spPr>
          <a:xfrm>
            <a:off x="793790" y="5543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Первые успехи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603359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Значительные улучшения в задачах распознавания речи и машинного перевода.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906" y="1209457"/>
            <a:ext cx="3438049" cy="445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94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1330694" y="81192"/>
            <a:ext cx="567059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и решение проблемы долгой памяти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921" y="1841001"/>
            <a:ext cx="1134070" cy="1391543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921" y="3510852"/>
            <a:ext cx="1134070" cy="1391543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921" y="5180704"/>
            <a:ext cx="1134070" cy="1391543"/>
          </a:xfrm>
          <a:prstGeom prst="rect">
            <a:avLst/>
          </a:prstGeom>
        </p:spPr>
      </p:pic>
      <p:sp>
        <p:nvSpPr>
          <p:cNvPr id="31" name="Text 2"/>
          <p:cNvSpPr/>
          <p:nvPr/>
        </p:nvSpPr>
        <p:spPr>
          <a:xfrm>
            <a:off x="5009322" y="1841001"/>
            <a:ext cx="3044890" cy="399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Проблема забывания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"/>
          <p:cNvSpPr/>
          <p:nvPr/>
        </p:nvSpPr>
        <p:spPr>
          <a:xfrm>
            <a:off x="4984014" y="2445289"/>
            <a:ext cx="577012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Обычные RNN теряли информацию при обработке длинных последовательностей.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4"/>
          <p:cNvSpPr/>
          <p:nvPr/>
        </p:nvSpPr>
        <p:spPr>
          <a:xfrm>
            <a:off x="4984014" y="3562809"/>
            <a:ext cx="28352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Решение LSTM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5"/>
          <p:cNvSpPr/>
          <p:nvPr/>
        </p:nvSpPr>
        <p:spPr>
          <a:xfrm>
            <a:off x="4984014" y="4115141"/>
            <a:ext cx="577012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Long Short-Term Memory сети научились сохранять важную информацию на длительных интервалах.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6"/>
          <p:cNvSpPr/>
          <p:nvPr/>
        </p:nvSpPr>
        <p:spPr>
          <a:xfrm>
            <a:off x="4984014" y="5232661"/>
            <a:ext cx="318325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Качественный скачок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7"/>
          <p:cNvSpPr/>
          <p:nvPr/>
        </p:nvSpPr>
        <p:spPr>
          <a:xfrm>
            <a:off x="4984014" y="5784992"/>
            <a:ext cx="61955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Прорыв в качестве машинного перевода и генерации связного текста.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622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348437" y="103365"/>
            <a:ext cx="5107781" cy="638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Ограничения RNN и необходимость новой архитектуры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4193785" y="1347363"/>
            <a:ext cx="3754755" cy="2203371"/>
          </a:xfrm>
          <a:prstGeom prst="roundRect">
            <a:avLst>
              <a:gd name="adj" fmla="val 498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6" name="Text 3"/>
          <p:cNvSpPr/>
          <p:nvPr/>
        </p:nvSpPr>
        <p:spPr>
          <a:xfrm>
            <a:off x="4489537" y="1574534"/>
            <a:ext cx="2903220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Медленная обработка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4"/>
          <p:cNvSpPr/>
          <p:nvPr/>
        </p:nvSpPr>
        <p:spPr>
          <a:xfrm>
            <a:off x="4489537" y="2016256"/>
            <a:ext cx="3231833" cy="1307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Последовательная природа RNN не позволяла эффективно использовать параллельные вычисления.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8152852" y="1347363"/>
            <a:ext cx="3754755" cy="2203371"/>
          </a:xfrm>
          <a:prstGeom prst="roundRect">
            <a:avLst>
              <a:gd name="adj" fmla="val 498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9" name="Text 7"/>
          <p:cNvSpPr/>
          <p:nvPr/>
        </p:nvSpPr>
        <p:spPr>
          <a:xfrm>
            <a:off x="8448603" y="1574534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Потеря контекста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8448603" y="2016256"/>
            <a:ext cx="3231833" cy="1307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Даже LSTM сети испытывали трудности с очень длинными текстами и сложными зависимостями.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4193785" y="3755045"/>
            <a:ext cx="3754755" cy="1876544"/>
          </a:xfrm>
          <a:prstGeom prst="roundRect">
            <a:avLst>
              <a:gd name="adj" fmla="val 584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2" name="Text 11"/>
          <p:cNvSpPr/>
          <p:nvPr/>
        </p:nvSpPr>
        <p:spPr>
          <a:xfrm>
            <a:off x="4489537" y="3982216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Масштабирование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4489537" y="4423938"/>
            <a:ext cx="3231833" cy="98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Сложности в обучении больших моделей из-за архитектурных ограничений.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696687" y="6204347"/>
            <a:ext cx="11210920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Эти ограничения создали потребность в принципиально новой архитектуре для обработки языка.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7" y="1368430"/>
            <a:ext cx="3913822" cy="426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71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9897" y="204108"/>
            <a:ext cx="10199573" cy="1216045"/>
          </a:xfrm>
          <a:prstGeom prst="ellipseRibbon2">
            <a:avLst>
              <a:gd name="adj1" fmla="val 0"/>
              <a:gd name="adj2" fmla="val 100000"/>
              <a:gd name="adj3" fmla="val 12500"/>
            </a:avLst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lIns="0" tIns="0" rIns="0" bIns="0" rtlCol="0" anchor="t"/>
          <a:lstStyle/>
          <a:p>
            <a:pPr algn="ctr">
              <a:lnSpc>
                <a:spcPts val="4950"/>
              </a:lnSpc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 революция в </a:t>
            </a:r>
          </a:p>
          <a:p>
            <a:pPr algn="ctr">
              <a:lnSpc>
                <a:spcPts val="4950"/>
              </a:lnSpc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обработке языка</a:t>
            </a:r>
            <a:endParaRPr lang="en-US" sz="3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4635" y="2353157"/>
            <a:ext cx="3593783" cy="1835468"/>
          </a:xfrm>
          <a:prstGeom prst="roundRect">
            <a:avLst>
              <a:gd name="adj" fmla="val 265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5376" y="2563897"/>
            <a:ext cx="3383042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«Attention Is All You Need»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5377" y="3003119"/>
            <a:ext cx="3093746" cy="97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Революционная статья от Google Research, которая изменила всю область NLP.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18602" y="2353157"/>
            <a:ext cx="4267438" cy="1835468"/>
          </a:xfrm>
          <a:prstGeom prst="roundRect">
            <a:avLst>
              <a:gd name="adj" fmla="val 265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9406" y="2533357"/>
            <a:ext cx="3277076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Параллельная обработка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69406" y="3022540"/>
            <a:ext cx="3175308" cy="97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Transformer обрабатывает весь текст одновременно, а не последовательно по словам.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06224" y="2380556"/>
            <a:ext cx="3241280" cy="1808069"/>
          </a:xfrm>
          <a:prstGeom prst="roundRect">
            <a:avLst>
              <a:gd name="adj" fmla="val 265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16964" y="2591297"/>
            <a:ext cx="2027043" cy="433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Механизм внимания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16964" y="3030519"/>
            <a:ext cx="2921149" cy="1332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Каждое слово может «обратить внимание» на любое другое слово в тексте.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635" y="4493305"/>
            <a:ext cx="8729543" cy="875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50"/>
              </a:lnSpc>
              <a:buNone/>
            </a:pPr>
            <a:r>
              <a:rPr lang="en-US" sz="55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Начало новой эпохи NLP</a:t>
            </a: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390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3700147" y="-412"/>
            <a:ext cx="6930152" cy="1648629"/>
          </a:xfrm>
          <a:prstGeom prst="horizontalScroll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Эпоха трансформеров и современные применения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700147" y="2128578"/>
            <a:ext cx="2352913" cy="26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Ключевые модели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/>
          <p:cNvSpPr/>
          <p:nvPr/>
        </p:nvSpPr>
        <p:spPr>
          <a:xfrm>
            <a:off x="3700147" y="2644042"/>
            <a:ext cx="3683675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BERT</a:t>
            </a: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— глубокий анализ контекста и понимание смысла слов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700147" y="3613210"/>
            <a:ext cx="3683675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GPT</a:t>
            </a: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— генерация связного и осмысленного текста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700147" y="4313654"/>
            <a:ext cx="3683675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Основа для ChatGPT, Bard и других современных систем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850547" y="2128578"/>
            <a:ext cx="2986802" cy="26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Применение в медицине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850547" y="2676427"/>
            <a:ext cx="3683675" cy="80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Автоматический анализ медицинских записей и историй болезни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850547" y="3613210"/>
            <a:ext cx="3683675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Распознавание симптомов и помощь в диагностике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850547" y="4281270"/>
            <a:ext cx="3683675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Формирование медицинских отчётов и рекомендаций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850547" y="5038584"/>
            <a:ext cx="2779752" cy="26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Мультимедиа решения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850547" y="5554048"/>
            <a:ext cx="3683675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Распознавание речи и синтез голоса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7850547" y="6222108"/>
            <a:ext cx="3683675" cy="53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Автоматические субтитры и перевод видео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9918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82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2488633" y="187956"/>
            <a:ext cx="7242453" cy="443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Современное состояние и перспективы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1758780" y="988221"/>
            <a:ext cx="3986093" cy="46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70%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2533282" y="1634254"/>
            <a:ext cx="2436971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Компаний используют NLP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1581257" y="2135362"/>
            <a:ext cx="3986093" cy="45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В медицине, образовании, бизнес-аналитике и других сферах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5922396" y="988221"/>
            <a:ext cx="3986213" cy="46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$50B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7027772" y="1634254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Размер рынка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744873" y="2135362"/>
            <a:ext cx="398621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ru-RU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      </a:t>
            </a:r>
            <a:r>
              <a:rPr lang="en-US" sz="2000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Рынок</a:t>
            </a: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технологий</a:t>
            </a: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обработки</a:t>
            </a:r>
            <a:endParaRPr lang="ru-RU" sz="2000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естественного языка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737242" y="2992139"/>
            <a:ext cx="2903458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Ведущие решения и платформы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1916062" y="3436647"/>
            <a:ext cx="8134588" cy="758546"/>
          </a:xfrm>
          <a:prstGeom prst="roundRect">
            <a:avLst>
              <a:gd name="adj" fmla="val 7291"/>
            </a:avLst>
          </a:prstGeom>
          <a:solidFill>
            <a:srgbClr val="DADBF1"/>
          </a:solidFill>
          <a:ln/>
        </p:spPr>
      </p:sp>
      <p:sp>
        <p:nvSpPr>
          <p:cNvPr id="14" name="Text 10"/>
          <p:cNvSpPr/>
          <p:nvPr/>
        </p:nvSpPr>
        <p:spPr>
          <a:xfrm>
            <a:off x="2058104" y="3519037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OpenAI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058104" y="3825980"/>
            <a:ext cx="7850505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GPT-4, ChatGPT — лидеры в области генеративного ИИ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1916062" y="4195193"/>
            <a:ext cx="8134588" cy="818198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7" name="Text 14"/>
          <p:cNvSpPr/>
          <p:nvPr/>
        </p:nvSpPr>
        <p:spPr>
          <a:xfrm>
            <a:off x="2058104" y="4337234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Google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058104" y="4644178"/>
            <a:ext cx="7850505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Bard, Gemini — интеграция с поисковыми технологиями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916062" y="5013390"/>
            <a:ext cx="8134588" cy="818198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20" name="Text 18"/>
          <p:cNvSpPr/>
          <p:nvPr/>
        </p:nvSpPr>
        <p:spPr>
          <a:xfrm>
            <a:off x="2058104" y="5155432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Hugging Face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58104" y="5462375"/>
            <a:ext cx="7850505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Открытая библиотека Transformers для исследователей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916062" y="5831588"/>
            <a:ext cx="8134588" cy="818198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23" name="Text 22"/>
          <p:cNvSpPr/>
          <p:nvPr/>
        </p:nvSpPr>
        <p:spPr>
          <a:xfrm>
            <a:off x="2058104" y="5973629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Яндекс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3"/>
          <p:cNvSpPr/>
          <p:nvPr/>
        </p:nvSpPr>
        <p:spPr>
          <a:xfrm>
            <a:off x="2058104" y="6280573"/>
            <a:ext cx="7850505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YandexGPT — российские разработки в области NLP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517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17875" y="163179"/>
            <a:ext cx="2573946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200" b="1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Оценка рынка NLP</a:t>
            </a:r>
            <a:endParaRPr lang="en-US" sz="320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872" y="795129"/>
            <a:ext cx="10521753" cy="589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69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621" y="219463"/>
            <a:ext cx="7074098" cy="618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ru-RU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Н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аучная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работа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13711" y="1815941"/>
            <a:ext cx="3703915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"Attention Is All You Need"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3711" y="2409825"/>
            <a:ext cx="5929789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i="1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Vaswani et al., 2017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3711" y="2966561"/>
            <a:ext cx="5929789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Цитируется: 89,000+ раз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9621" y="1815941"/>
            <a:ext cx="30480" cy="1506974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7" name="Text 5"/>
          <p:cNvSpPr/>
          <p:nvPr/>
        </p:nvSpPr>
        <p:spPr>
          <a:xfrm>
            <a:off x="779621" y="3573423"/>
            <a:ext cx="3852014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Эта работа представила архитектуру Transformer, которая стала основой для всех современных больших языковых моделей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104" y="932469"/>
            <a:ext cx="6883788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18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2465" y="141471"/>
            <a:ext cx="12007572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Применение в медицине: революция в диагностике</a:t>
            </a:r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55" y="1889606"/>
            <a:ext cx="617220" cy="61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6533" y="2746576"/>
            <a:ext cx="2336363" cy="367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Анализ МРТ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67690" y="3354075"/>
            <a:ext cx="4681997" cy="19931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ИИ превосходит радиологов в выявлении ранних стадий болезни Альцгеймера и опухолей мозга с точностью 95%+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836" y="1937231"/>
            <a:ext cx="617220" cy="617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5836" y="2863061"/>
            <a:ext cx="5332094" cy="342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Обработка медицинских записей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60319" y="3418513"/>
            <a:ext cx="5009438" cy="17299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Автоматическое извлечение важной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информации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из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Barlow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историй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болезни и составление диагнозов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224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052313" y="224297"/>
            <a:ext cx="61564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💬 NLP в повседневной жизни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352800" y="1672272"/>
            <a:ext cx="57476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Голосовые помощники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Алиса,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Assistant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Автоматические переводчики и субтитры.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📰 Генерация новостей и рекламы.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📧 Фильтрация спама и анализ отзывов.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Искусственный интеллект стал повседневным помощником в общении.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74" y="1292549"/>
            <a:ext cx="2995750" cy="2411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74" y="3901248"/>
            <a:ext cx="2995750" cy="24755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456" y="1292548"/>
            <a:ext cx="2889563" cy="24111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0457" y="3901249"/>
            <a:ext cx="2889563" cy="24755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97951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29988" y="174171"/>
            <a:ext cx="6494455" cy="1208242"/>
          </a:xfrm>
          <a:prstGeom prst="flowChartProcess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50"/>
              </a:lnSpc>
              <a:buNone/>
            </a:pPr>
            <a:r>
              <a:rPr lang="ru-RU" sz="6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   </a:t>
            </a:r>
            <a:r>
              <a:rPr lang="en-US" sz="6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Будущее</a:t>
            </a:r>
            <a:r>
              <a:rPr lang="en-US" sz="6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NLP</a:t>
            </a:r>
            <a:endParaRPr lang="en-US" sz="6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173298" y="1983230"/>
            <a:ext cx="3676412" cy="2436018"/>
          </a:xfrm>
          <a:prstGeom prst="roundRect">
            <a:avLst>
              <a:gd name="adj" fmla="val 20034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19996" y="2112437"/>
            <a:ext cx="3183017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Общий искусственный интеллект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19996" y="2739515"/>
            <a:ext cx="3183017" cy="1074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Модели, способные к пониманию и рассуждению на уровне человека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73548" y="1983230"/>
            <a:ext cx="3676412" cy="2436018"/>
          </a:xfrm>
          <a:prstGeom prst="roundRect">
            <a:avLst>
              <a:gd name="adj" fmla="val 20034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20245" y="2072681"/>
            <a:ext cx="3183017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Персонализированные ассистенты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20245" y="2739515"/>
            <a:ext cx="3183017" cy="143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ИИ, адаптирующиеся к индивидуальному стилю общения каждого пользователя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73298" y="4643086"/>
            <a:ext cx="7576661" cy="1296948"/>
          </a:xfrm>
          <a:prstGeom prst="roundRect">
            <a:avLst>
              <a:gd name="adj" fmla="val 41439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9996" y="4889783"/>
            <a:ext cx="3504843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Этичный и безопасный ИИ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07126" y="6358447"/>
            <a:ext cx="11332844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NLP продолжает развиваться с невероятной скоростью, открывая новые возможности </a:t>
            </a:r>
            <a:r>
              <a:rPr lang="en-US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для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человечества</a:t>
            </a:r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.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419996" y="5268341"/>
            <a:ext cx="7083266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Развитие методов контроля и интерпретируемости моделей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31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546372" y="100510"/>
            <a:ext cx="25773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102626" y="1985305"/>
            <a:ext cx="608937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✅ NLP прошло длинный путь — от словарей до </a:t>
            </a:r>
            <a:r>
              <a:rPr lang="ru-RU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трансформеров</a:t>
            </a:r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ru-RU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стал ключевым этапом.</a:t>
            </a:r>
            <a:b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✅ Современные модели приближают AI к человеческому языку.</a:t>
            </a:r>
            <a:b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✅ Перспективы — умные системы общения и анализа.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4" y="1762126"/>
            <a:ext cx="5317435" cy="463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11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78055" y="2967335"/>
            <a:ext cx="70359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7040023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TM03457452[[fn=Небесная]]</Template>
  <TotalTime>485</TotalTime>
  <Words>930</Words>
  <Application>Microsoft Office PowerPoint</Application>
  <PresentationFormat>Широкоэкранный</PresentationFormat>
  <Paragraphs>132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Тема Office</vt:lpstr>
      <vt:lpstr>AI и обработка естественных языков (NLP)</vt:lpstr>
      <vt:lpstr> Обработка естественных языков (NLP) — это направление искусственного интеллекта, изучающее взаимодействие человека и компьютера на естественном языке.</vt:lpstr>
      <vt:lpstr>Почему тема остаётся актуальной?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и обработка естественных языков (NLP)</dc:title>
  <dc:creator>Дана</dc:creator>
  <cp:lastModifiedBy>Данил</cp:lastModifiedBy>
  <cp:revision>34</cp:revision>
  <dcterms:created xsi:type="dcterms:W3CDTF">2025-10-06T17:31:01Z</dcterms:created>
  <dcterms:modified xsi:type="dcterms:W3CDTF">2025-11-24T09:17:58Z</dcterms:modified>
</cp:coreProperties>
</file>